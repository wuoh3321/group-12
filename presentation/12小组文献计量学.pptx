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3" r:id="rId2"/>
    <p:sldId id="265" r:id="rId3"/>
    <p:sldId id="264" r:id="rId4"/>
    <p:sldId id="272" r:id="rId5"/>
    <p:sldId id="273" r:id="rId6"/>
    <p:sldId id="274" r:id="rId7"/>
    <p:sldId id="275" r:id="rId8"/>
    <p:sldId id="267" r:id="rId9"/>
    <p:sldId id="262" r:id="rId10"/>
  </p:sldIdLst>
  <p:sldSz cx="12192000" cy="6858000"/>
  <p:notesSz cx="6858000" cy="9144000"/>
  <p:embeddedFontLst>
    <p:embeddedFont>
      <p:font typeface="方正小标宋简体" panose="02010600030101010101" charset="-122"/>
      <p:regular r:id="rId13"/>
    </p:embeddedFont>
    <p:embeddedFont>
      <p:font typeface="等线" panose="02010600030101010101" pitchFamily="2" charset="-122"/>
      <p:regular r:id="rId14"/>
      <p:bold r:id="rId15"/>
    </p:embeddedFont>
    <p:embeddedFont>
      <p:font typeface="等线 Light" panose="02010600030101010101" pitchFamily="2" charset="-122"/>
      <p:regular r:id="rId16"/>
    </p:embeddedFont>
    <p:embeddedFont>
      <p:font typeface="黑体" panose="02010609060101010101" pitchFamily="49" charset="-122"/>
      <p:regular r:id="rId17"/>
    </p:embeddedFont>
    <p:embeddedFont>
      <p:font typeface="微软雅黑" panose="020B0503020204020204" pitchFamily="34" charset="-122"/>
      <p:regular r:id="rId18"/>
      <p:bold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322D"/>
    <a:srgbClr val="A93733"/>
    <a:srgbClr val="984E42"/>
    <a:srgbClr val="5175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6"/>
    <p:restoredTop sz="95827"/>
  </p:normalViewPr>
  <p:slideViewPr>
    <p:cSldViewPr snapToGrid="0" snapToObjects="1">
      <p:cViewPr varScale="1">
        <p:scale>
          <a:sx n="99" d="100"/>
          <a:sy n="99" d="100"/>
        </p:scale>
        <p:origin x="8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3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08B94-B0B3-D748-9AF7-763EF72ADB9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E9909-426E-B260-79D8-8A7A4A0E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F9E0D19-339C-C9D3-93E3-1220BB060E85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33C70C-1EAA-6103-3884-65AABC4095D2}"/>
              </a:ext>
            </a:extLst>
          </p:cNvPr>
          <p:cNvSpPr txBox="1"/>
          <p:nvPr/>
        </p:nvSpPr>
        <p:spPr>
          <a:xfrm>
            <a:off x="2541982" y="1396657"/>
            <a:ext cx="7680308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54AAF4-3424-FAAC-3DC2-2AD1DF893FEF}"/>
              </a:ext>
            </a:extLst>
          </p:cNvPr>
          <p:cNvSpPr txBox="1"/>
          <p:nvPr/>
        </p:nvSpPr>
        <p:spPr>
          <a:xfrm>
            <a:off x="4847483" y="461375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0E744BA0-C0F2-730C-FDCD-0EEF1CF8753F}"/>
              </a:ext>
            </a:extLst>
          </p:cNvPr>
          <p:cNvCxnSpPr/>
          <p:nvPr/>
        </p:nvCxnSpPr>
        <p:spPr>
          <a:xfrm>
            <a:off x="7263530" y="478303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CCD7D485-63A8-3301-5D1D-0BEF062CD659}"/>
              </a:ext>
            </a:extLst>
          </p:cNvPr>
          <p:cNvCxnSpPr/>
          <p:nvPr/>
        </p:nvCxnSpPr>
        <p:spPr>
          <a:xfrm>
            <a:off x="3923200" y="478303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A98630BF-7099-BFF4-C504-54054BC1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61749" y="916915"/>
            <a:ext cx="3014709" cy="95948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1017DFC-43F7-EDD9-5805-93B1DFF9A9BB}"/>
              </a:ext>
            </a:extLst>
          </p:cNvPr>
          <p:cNvSpPr txBox="1"/>
          <p:nvPr/>
        </p:nvSpPr>
        <p:spPr>
          <a:xfrm>
            <a:off x="3020858" y="2837995"/>
            <a:ext cx="6042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8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rPr>
              <a:t>文献计量学  第</a:t>
            </a:r>
            <a:r>
              <a:rPr kumimoji="1" lang="en-US" altLang="zh-CN" sz="48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rPr>
              <a:t>12</a:t>
            </a:r>
            <a:r>
              <a:rPr kumimoji="1" lang="zh-CN" altLang="en-US" sz="48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rPr>
              <a:t>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0324F3-1F93-0594-6A70-C9E2F4541571}"/>
              </a:ext>
            </a:extLst>
          </p:cNvPr>
          <p:cNvSpPr txBox="1"/>
          <p:nvPr/>
        </p:nvSpPr>
        <p:spPr>
          <a:xfrm>
            <a:off x="983557" y="5874856"/>
            <a:ext cx="549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组员：刘晋安，吴君豪，丛嘉孚，邓子聪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05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8D2C5-877A-095B-67DC-72D5C66D2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0BBD4B3-92BB-1913-28FC-A6E61811792D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2015FF-DEAD-4E49-DC3B-640DDBCD6CE2}"/>
              </a:ext>
            </a:extLst>
          </p:cNvPr>
          <p:cNvSpPr txBox="1"/>
          <p:nvPr/>
        </p:nvSpPr>
        <p:spPr>
          <a:xfrm>
            <a:off x="2541982" y="1396657"/>
            <a:ext cx="7982382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C7A560-6334-4472-3470-94EFE35B2D21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34510AA-B39E-9782-31EB-D07F68B610B1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99AB1F-5341-1BB5-A39C-32B531310509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EF074CB2-FC36-868C-FD99-0DB3DCBB0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23EE7E3-17FB-0DC6-5C4B-FB31D843A292}"/>
              </a:ext>
            </a:extLst>
          </p:cNvPr>
          <p:cNvSpPr txBox="1"/>
          <p:nvPr/>
        </p:nvSpPr>
        <p:spPr>
          <a:xfrm>
            <a:off x="3640902" y="517460"/>
            <a:ext cx="374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题目与研究背景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FC249E-4745-404C-6583-98FAC6B420D2}"/>
              </a:ext>
            </a:extLst>
          </p:cNvPr>
          <p:cNvSpPr txBox="1"/>
          <p:nvPr/>
        </p:nvSpPr>
        <p:spPr>
          <a:xfrm>
            <a:off x="1667636" y="1317902"/>
            <a:ext cx="9488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A3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3200" dirty="0">
                <a:solidFill>
                  <a:srgbClr val="9A3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在现代医学领域的文献计量分析（</a:t>
            </a:r>
            <a:r>
              <a:rPr lang="en-US" altLang="zh-CN" sz="3200" dirty="0">
                <a:solidFill>
                  <a:srgbClr val="9A3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2020-2026</a:t>
            </a:r>
            <a:r>
              <a:rPr lang="zh-CN" altLang="en-US" sz="3200" dirty="0">
                <a:solidFill>
                  <a:srgbClr val="9A3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432514-0128-1D9B-C5B8-019F52660452}"/>
              </a:ext>
            </a:extLst>
          </p:cNvPr>
          <p:cNvSpPr txBox="1"/>
          <p:nvPr/>
        </p:nvSpPr>
        <p:spPr>
          <a:xfrm>
            <a:off x="1536812" y="2163641"/>
            <a:ext cx="9750512" cy="373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行业痛点：现代医疗存在影像判读负荷大、海量临床数据挖掘难、基层医疗资源不均等问题；大语言模型、生成式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快速落地医疗场景，成为全球交叉研究热点。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领域现状：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年后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医疗发文量爆发增长，但现有研究多聚焦单一算法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临床场景，缺少宏观全领域脉络梳理。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本研究价值：采用文献计量法，量化刻画领域发展、热点、合作格局，为后续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医疗研究提供客观文献依据。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B0E56B5-1EDB-D59E-F2B4-CE8C3D5261E8}"/>
              </a:ext>
            </a:extLst>
          </p:cNvPr>
          <p:cNvSpPr/>
          <p:nvPr/>
        </p:nvSpPr>
        <p:spPr>
          <a:xfrm>
            <a:off x="1185255" y="2344240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B7E458B-33D6-1879-E969-3E2BC0AA07E8}"/>
              </a:ext>
            </a:extLst>
          </p:cNvPr>
          <p:cNvSpPr/>
          <p:nvPr/>
        </p:nvSpPr>
        <p:spPr>
          <a:xfrm>
            <a:off x="1185255" y="3730738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68FA4CF-680F-BCF8-3676-0565EE44754D}"/>
              </a:ext>
            </a:extLst>
          </p:cNvPr>
          <p:cNvSpPr/>
          <p:nvPr/>
        </p:nvSpPr>
        <p:spPr>
          <a:xfrm>
            <a:off x="1185255" y="5117236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19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6756-C6F2-D46E-058F-C6A9B2C4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8E618B9-15FC-DB82-6987-EF8213CEE177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1AC253-3178-E1DC-A6F5-26C970355081}"/>
              </a:ext>
            </a:extLst>
          </p:cNvPr>
          <p:cNvSpPr txBox="1"/>
          <p:nvPr/>
        </p:nvSpPr>
        <p:spPr>
          <a:xfrm>
            <a:off x="2541982" y="1396657"/>
            <a:ext cx="8196132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4C679D-C851-4EB1-6C9B-D7B377B5DF0E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6179255-ABAF-3516-8155-C8410EC3FB21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5FD0900F-8117-3479-6AAF-040314781465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2527B1D3-D5A3-52E3-9C90-EBD797971C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35DE6D8-FE14-B408-7902-CAE27DEF8ED9}"/>
              </a:ext>
            </a:extLst>
          </p:cNvPr>
          <p:cNvSpPr/>
          <p:nvPr/>
        </p:nvSpPr>
        <p:spPr>
          <a:xfrm>
            <a:off x="851523" y="1602928"/>
            <a:ext cx="1283369" cy="385010"/>
          </a:xfrm>
          <a:prstGeom prst="rect">
            <a:avLst/>
          </a:prstGeom>
          <a:solidFill>
            <a:srgbClr val="A93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组员分工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CADF06-2DCB-CFAE-A687-359E171C0569}"/>
              </a:ext>
            </a:extLst>
          </p:cNvPr>
          <p:cNvSpPr txBox="1"/>
          <p:nvPr/>
        </p:nvSpPr>
        <p:spPr>
          <a:xfrm>
            <a:off x="2401558" y="2551620"/>
            <a:ext cx="804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吴君豪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论文撰写、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归档，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A123D3-F115-8F83-6B33-89A1117C283A}"/>
              </a:ext>
            </a:extLst>
          </p:cNvPr>
          <p:cNvSpPr txBox="1"/>
          <p:nvPr/>
        </p:nvSpPr>
        <p:spPr>
          <a:xfrm>
            <a:off x="2401558" y="3476628"/>
            <a:ext cx="757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丛嘉孚        报告梳理，答辩统筹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6A3718-6AB8-FB9F-A593-7A1E25F70CFC}"/>
              </a:ext>
            </a:extLst>
          </p:cNvPr>
          <p:cNvSpPr txBox="1"/>
          <p:nvPr/>
        </p:nvSpPr>
        <p:spPr>
          <a:xfrm>
            <a:off x="2415681" y="4401636"/>
            <a:ext cx="745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邓子聪        论文撰写，仓库搭建</a:t>
            </a:r>
            <a:endParaRPr lang="zh-CN" altLang="en-US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03FA1-81AB-A45C-A16F-22E62DEE6B25}"/>
              </a:ext>
            </a:extLst>
          </p:cNvPr>
          <p:cNvSpPr/>
          <p:nvPr/>
        </p:nvSpPr>
        <p:spPr>
          <a:xfrm>
            <a:off x="3453123" y="2625821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A6681EF-2435-A035-389D-854861FABB90}"/>
              </a:ext>
            </a:extLst>
          </p:cNvPr>
          <p:cNvSpPr/>
          <p:nvPr/>
        </p:nvSpPr>
        <p:spPr>
          <a:xfrm>
            <a:off x="3453123" y="3550829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D130C76-66F6-6AC2-2B1C-5B6A9B0D4720}"/>
              </a:ext>
            </a:extLst>
          </p:cNvPr>
          <p:cNvSpPr/>
          <p:nvPr/>
        </p:nvSpPr>
        <p:spPr>
          <a:xfrm>
            <a:off x="3453123" y="4475837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A65952-40D1-4337-E1EC-25FA30AD21C2}"/>
              </a:ext>
            </a:extLst>
          </p:cNvPr>
          <p:cNvSpPr txBox="1"/>
          <p:nvPr/>
        </p:nvSpPr>
        <p:spPr>
          <a:xfrm>
            <a:off x="2401558" y="1618606"/>
            <a:ext cx="804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刘晋安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 ，可视化绘图，数据检索清洗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答辩统筹</a:t>
            </a:r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F9A190C-7582-6AC9-C3B0-E46A6CB01CBD}"/>
              </a:ext>
            </a:extLst>
          </p:cNvPr>
          <p:cNvSpPr/>
          <p:nvPr/>
        </p:nvSpPr>
        <p:spPr>
          <a:xfrm>
            <a:off x="3453123" y="1692807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018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77AC-AEC5-3F23-D2E7-3239982D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750639B-F6D5-3A8A-837D-BB257EDEB057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1A1A74-83E8-EEF6-06A6-2BD59815772B}"/>
              </a:ext>
            </a:extLst>
          </p:cNvPr>
          <p:cNvSpPr txBox="1"/>
          <p:nvPr/>
        </p:nvSpPr>
        <p:spPr>
          <a:xfrm>
            <a:off x="2541982" y="1396657"/>
            <a:ext cx="887597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2F433E-ACB3-6EF5-8504-CB80BA11AF12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3022297-45C1-A098-E4C6-56E567BB2084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53F2595-BF9E-8779-0D8E-1DE71B6ACD53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41362411-541D-BC07-B8AA-D56C99E93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945594-68B4-6F26-ED6B-80AD9839469B}"/>
              </a:ext>
            </a:extLst>
          </p:cNvPr>
          <p:cNvSpPr txBox="1"/>
          <p:nvPr/>
        </p:nvSpPr>
        <p:spPr>
          <a:xfrm>
            <a:off x="3640902" y="517460"/>
            <a:ext cx="374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研究问题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FC9BAE-0F40-7D98-AD50-75DD3CEC8510}"/>
              </a:ext>
            </a:extLst>
          </p:cNvPr>
          <p:cNvSpPr txBox="1"/>
          <p:nvPr/>
        </p:nvSpPr>
        <p:spPr>
          <a:xfrm>
            <a:off x="1536812" y="1831958"/>
            <a:ext cx="9750512" cy="373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2020-2026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在现代医学领域整体发文演化态势如何，可划分哪些发展阶段？（对应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Fig.1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年发文趋势图）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：该领域核心研究热点、知识基础与细分主题包含哪些？（对应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Fig.3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关键词共现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共被引网络、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高被引文献表）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：全球领域作者科研合作格局、核心领军团队分布特征是什么？（对应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Fig.2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作者合作网络图）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A227F8D-34F3-6354-B6A3-2F3BD0A7B3ED}"/>
              </a:ext>
            </a:extLst>
          </p:cNvPr>
          <p:cNvSpPr/>
          <p:nvPr/>
        </p:nvSpPr>
        <p:spPr>
          <a:xfrm>
            <a:off x="1185255" y="2012557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FC4332F-84AB-EADC-037C-00D99CA985CF}"/>
              </a:ext>
            </a:extLst>
          </p:cNvPr>
          <p:cNvSpPr/>
          <p:nvPr/>
        </p:nvSpPr>
        <p:spPr>
          <a:xfrm>
            <a:off x="1185255" y="3399055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29BE8FB-52A6-1124-FE47-BD359A59B7B4}"/>
              </a:ext>
            </a:extLst>
          </p:cNvPr>
          <p:cNvSpPr/>
          <p:nvPr/>
        </p:nvSpPr>
        <p:spPr>
          <a:xfrm>
            <a:off x="1185255" y="4785553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73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E1DD-FA74-0178-A1E2-9A6580D05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962224C-800D-BB59-C4E8-E8530F0D3B19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4A720B-AF3A-378F-5E09-6BA3C2547AEA}"/>
              </a:ext>
            </a:extLst>
          </p:cNvPr>
          <p:cNvSpPr txBox="1"/>
          <p:nvPr/>
        </p:nvSpPr>
        <p:spPr>
          <a:xfrm>
            <a:off x="2541982" y="1396657"/>
            <a:ext cx="8651747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05640A-C5CB-EC88-5178-E6C36370CAC5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4C43B71-880F-4F1F-B636-239BE4741362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9762D8D-31E9-5FC5-227A-3C1849EA2F06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55EA96F9-A0A2-B725-DEC7-1D80B0D6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6D4028-6B3A-3B28-AB81-9C3119B4D6CE}"/>
              </a:ext>
            </a:extLst>
          </p:cNvPr>
          <p:cNvSpPr txBox="1"/>
          <p:nvPr/>
        </p:nvSpPr>
        <p:spPr>
          <a:xfrm>
            <a:off x="1536812" y="2163641"/>
            <a:ext cx="9750512" cy="373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2020-2026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在现代医学领域整体发文演化态势如何，可划分哪些发展阶段？（对应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Fig.1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年发文趋势图）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：该领域核心研究热点、知识基础与细分主题包含哪些？（对应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Fig.3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关键词共现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共被引网络、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高被引文献表）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RQ3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：全球领域作者科研合作格局、核心领军团队分布特征是什么？（对应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Fig.2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作者合作网络图）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E45065B-427B-46DF-036E-0E3B58E226A5}"/>
              </a:ext>
            </a:extLst>
          </p:cNvPr>
          <p:cNvSpPr/>
          <p:nvPr/>
        </p:nvSpPr>
        <p:spPr>
          <a:xfrm>
            <a:off x="1185255" y="2344240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054AF84-CB38-F56E-FEBE-913FD7E2E3CA}"/>
              </a:ext>
            </a:extLst>
          </p:cNvPr>
          <p:cNvSpPr/>
          <p:nvPr/>
        </p:nvSpPr>
        <p:spPr>
          <a:xfrm>
            <a:off x="1185255" y="3730738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4CD1E71-B630-3239-102E-474F7647257C}"/>
              </a:ext>
            </a:extLst>
          </p:cNvPr>
          <p:cNvSpPr/>
          <p:nvPr/>
        </p:nvSpPr>
        <p:spPr>
          <a:xfrm>
            <a:off x="1185255" y="5117236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8BD312-B90E-7CC8-0142-3E8740636E8A}"/>
              </a:ext>
            </a:extLst>
          </p:cNvPr>
          <p:cNvSpPr txBox="1"/>
          <p:nvPr/>
        </p:nvSpPr>
        <p:spPr>
          <a:xfrm>
            <a:off x="3507133" y="625180"/>
            <a:ext cx="6415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9A3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本研究四大核心发现</a:t>
            </a:r>
          </a:p>
        </p:txBody>
      </p:sp>
    </p:spTree>
    <p:extLst>
      <p:ext uri="{BB962C8B-B14F-4D97-AF65-F5344CB8AC3E}">
        <p14:creationId xmlns:p14="http://schemas.microsoft.com/office/powerpoint/2010/main" val="148657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8256-4419-ABBB-DC4E-B4BD2F3A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D69C4F-8E3B-B684-B386-035E4F280E49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3BDC85-0DBB-DA07-EA6C-DB53529866C2}"/>
              </a:ext>
            </a:extLst>
          </p:cNvPr>
          <p:cNvSpPr txBox="1"/>
          <p:nvPr/>
        </p:nvSpPr>
        <p:spPr>
          <a:xfrm>
            <a:off x="2541982" y="1396657"/>
            <a:ext cx="887597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A7331C-4AE8-EADA-235D-6E09484A8213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72D3C7C-4DAE-6A39-4E70-D00E384916DE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8C6B3451-EB2D-3D31-3F52-13FB821A9598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2727C328-AAAF-0350-33F0-8242F891C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823A342-0FB9-89D2-178E-7C4BE9F6EDF1}"/>
              </a:ext>
            </a:extLst>
          </p:cNvPr>
          <p:cNvSpPr txBox="1"/>
          <p:nvPr/>
        </p:nvSpPr>
        <p:spPr>
          <a:xfrm>
            <a:off x="3640902" y="517460"/>
            <a:ext cx="374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研究局限与不足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5F49B4-FFB4-2997-F813-95CE8C815326}"/>
              </a:ext>
            </a:extLst>
          </p:cNvPr>
          <p:cNvSpPr txBox="1"/>
          <p:nvPr/>
        </p:nvSpPr>
        <p:spPr>
          <a:xfrm>
            <a:off x="1536812" y="2163641"/>
            <a:ext cx="9750512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数据库局限：仅选用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of Science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英文文献，未纳入中文知网、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PubMed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等数据库，文献覆盖存在片面性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时间窗口局限：截止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月，本年度文献收录不全，对最新前沿趋势捕捉存在轻微偏差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分析局限：仅宏观文献计量梳理，未深入算法性能、临床落地效果等细分实证对比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E8C396A-138D-C410-8F2E-D0C401E1E166}"/>
              </a:ext>
            </a:extLst>
          </p:cNvPr>
          <p:cNvSpPr/>
          <p:nvPr/>
        </p:nvSpPr>
        <p:spPr>
          <a:xfrm>
            <a:off x="1185255" y="2344240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7B4181-9A21-CBE6-D94F-DF54A841CEC4}"/>
              </a:ext>
            </a:extLst>
          </p:cNvPr>
          <p:cNvSpPr/>
          <p:nvPr/>
        </p:nvSpPr>
        <p:spPr>
          <a:xfrm>
            <a:off x="1185255" y="3730738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7A52F45-5FE8-FED4-7CBC-F5BECAADBDA9}"/>
              </a:ext>
            </a:extLst>
          </p:cNvPr>
          <p:cNvSpPr/>
          <p:nvPr/>
        </p:nvSpPr>
        <p:spPr>
          <a:xfrm>
            <a:off x="1185255" y="5117236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88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B7C3-88A6-A3AE-1C69-FA3CF8BC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2B5FAA-85B0-1943-6498-E054EB567633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659D83-7FFD-B7E1-34D9-74BA0A7B0065}"/>
              </a:ext>
            </a:extLst>
          </p:cNvPr>
          <p:cNvSpPr txBox="1"/>
          <p:nvPr/>
        </p:nvSpPr>
        <p:spPr>
          <a:xfrm>
            <a:off x="2541982" y="1396657"/>
            <a:ext cx="8609563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789DC6-3621-D04B-058E-117ED8A54FF1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33AA838-1BD0-CC54-670E-A40F9435BEF0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F104FD17-AB0C-ABDA-98E0-0A5B52F6CAE0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BCD5ED2D-C75A-26AF-D2C9-7E7AE633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B41CDFF-4A5A-D516-0E95-7F82F20CD341}"/>
              </a:ext>
            </a:extLst>
          </p:cNvPr>
          <p:cNvSpPr txBox="1"/>
          <p:nvPr/>
        </p:nvSpPr>
        <p:spPr>
          <a:xfrm>
            <a:off x="3640902" y="549529"/>
            <a:ext cx="374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/>
              <a:t>GitHub 复现路径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A1DE6C-649C-D7F7-475D-C084D856A37B}"/>
              </a:ext>
            </a:extLst>
          </p:cNvPr>
          <p:cNvSpPr txBox="1"/>
          <p:nvPr/>
        </p:nvSpPr>
        <p:spPr>
          <a:xfrm>
            <a:off x="1779041" y="1771812"/>
            <a:ext cx="9750512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克隆仓库：仓库地址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https://github.com/Wuoh3321/Group-12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环境配置：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 install -r requirements.txt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一键安装依赖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完整复现入口：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原始数据集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data/raw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检索配置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query.yaml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分析参数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reports/params.md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图表与指标表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outputs/figures / tables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C46DA14-4CCE-7C40-1F01-5EBB620AD472}"/>
              </a:ext>
            </a:extLst>
          </p:cNvPr>
          <p:cNvSpPr/>
          <p:nvPr/>
        </p:nvSpPr>
        <p:spPr>
          <a:xfrm>
            <a:off x="1558112" y="1965408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35E015F-21AB-788E-599E-2C78724C55DE}"/>
              </a:ext>
            </a:extLst>
          </p:cNvPr>
          <p:cNvSpPr/>
          <p:nvPr/>
        </p:nvSpPr>
        <p:spPr>
          <a:xfrm>
            <a:off x="1566726" y="2426413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0849F1A-58C6-0734-83AF-870017588FC1}"/>
              </a:ext>
            </a:extLst>
          </p:cNvPr>
          <p:cNvSpPr/>
          <p:nvPr/>
        </p:nvSpPr>
        <p:spPr>
          <a:xfrm>
            <a:off x="1558112" y="2887418"/>
            <a:ext cx="220929" cy="22092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530CF7-C9E3-6C51-2003-A4D8C1F7B6FC}"/>
              </a:ext>
            </a:extLst>
          </p:cNvPr>
          <p:cNvSpPr txBox="1"/>
          <p:nvPr/>
        </p:nvSpPr>
        <p:spPr>
          <a:xfrm>
            <a:off x="1040455" y="6055792"/>
            <a:ext cx="6847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所有文档、代码、图表、参数全部开源归档，支持完整复现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4699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54A5D-59FD-150F-301C-650DA07A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D94D554-8B8D-C3DA-7A1B-E3221F33E3E1}"/>
              </a:ext>
            </a:extLst>
          </p:cNvPr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51E368-BAF7-C64E-573D-F691AC16F599}"/>
              </a:ext>
            </a:extLst>
          </p:cNvPr>
          <p:cNvSpPr txBox="1"/>
          <p:nvPr/>
        </p:nvSpPr>
        <p:spPr>
          <a:xfrm>
            <a:off x="2541982" y="1396657"/>
            <a:ext cx="824057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B5E930-20E0-6A14-2F1E-8BC9594DF63A}"/>
              </a:ext>
            </a:extLst>
          </p:cNvPr>
          <p:cNvSpPr txBox="1"/>
          <p:nvPr/>
        </p:nvSpPr>
        <p:spPr>
          <a:xfrm>
            <a:off x="8314839" y="612882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FFF171A-0E11-10BF-C6C6-C6D00064BB89}"/>
              </a:ext>
            </a:extLst>
          </p:cNvPr>
          <p:cNvCxnSpPr/>
          <p:nvPr/>
        </p:nvCxnSpPr>
        <p:spPr>
          <a:xfrm>
            <a:off x="10730886" y="629810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045CF96-C615-BDAA-E700-A5ECAC2BE83B}"/>
              </a:ext>
            </a:extLst>
          </p:cNvPr>
          <p:cNvCxnSpPr/>
          <p:nvPr/>
        </p:nvCxnSpPr>
        <p:spPr>
          <a:xfrm>
            <a:off x="7390556" y="629810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>
            <a:extLst>
              <a:ext uri="{FF2B5EF4-FFF2-40B4-BE49-F238E27FC236}">
                <a16:creationId xmlns:a16="http://schemas.microsoft.com/office/drawing/2014/main" id="{666C98DB-623C-3722-7C74-0A26F0E7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387" y="351322"/>
            <a:ext cx="3014709" cy="9594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70EB223-125E-E885-5603-2B2F14F6523F}"/>
              </a:ext>
            </a:extLst>
          </p:cNvPr>
          <p:cNvSpPr txBox="1"/>
          <p:nvPr/>
        </p:nvSpPr>
        <p:spPr>
          <a:xfrm>
            <a:off x="3640902" y="517460"/>
            <a:ext cx="3749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227661-7A6C-5009-E7F2-B26C9E385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87" y="1277214"/>
            <a:ext cx="3827083" cy="3607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AC1E77-E34C-DFB5-C0E6-CCD257F8D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862" y="831064"/>
            <a:ext cx="2008851" cy="50559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37BA20-2E85-D37E-6271-3DEC481ED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067" y="3205614"/>
            <a:ext cx="3923354" cy="326176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12CB12-0C2B-54DF-96B0-FD23F566D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245" y="1221678"/>
            <a:ext cx="3343852" cy="278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6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541982" y="1396657"/>
            <a:ext cx="7680308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9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</a:rPr>
              <a:t>HNU</a:t>
            </a:r>
            <a:endParaRPr kumimoji="1" lang="zh-CN" altLang="en-US" sz="239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7483" y="4613759"/>
            <a:ext cx="2416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spc="3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libaba PuHuiTi M" pitchFamily="18" charset="-122"/>
              </a:rPr>
              <a:t>实事求是  敢为人先</a:t>
            </a:r>
          </a:p>
        </p:txBody>
      </p:sp>
      <p:cxnSp>
        <p:nvCxnSpPr>
          <p:cNvPr id="11" name="直线连接符 10"/>
          <p:cNvCxnSpPr/>
          <p:nvPr/>
        </p:nvCxnSpPr>
        <p:spPr>
          <a:xfrm>
            <a:off x="7263530" y="4783036"/>
            <a:ext cx="99804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3923200" y="4783036"/>
            <a:ext cx="91705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C:\Users\Echi\Desktop\微信图片_20210423152212.png微信图片_202104231522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61749" y="916915"/>
            <a:ext cx="3014709" cy="9594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49957" y="2837995"/>
            <a:ext cx="278384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800" b="1" spc="300" dirty="0">
                <a:solidFill>
                  <a:srgbClr val="C00000"/>
                </a:solidFill>
                <a:latin typeface="方正小标宋简体" panose="03000509000000000000" charset="-122"/>
                <a:ea typeface="方正小标宋简体" panose="03000509000000000000" charset="-122"/>
                <a:cs typeface="Alibaba PuHuiTi M" pitchFamily="18" charset="-122"/>
              </a:rPr>
              <a:t>谢谢观赏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585</Words>
  <Application>Microsoft Office PowerPoint</Application>
  <PresentationFormat>宽屏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黑体</vt:lpstr>
      <vt:lpstr>方正小标宋简体</vt:lpstr>
      <vt:lpstr>等线 Light</vt:lpstr>
      <vt:lpstr>Arial</vt:lpstr>
      <vt:lpstr>微软雅黑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君豪 吴</cp:lastModifiedBy>
  <cp:revision>21</cp:revision>
  <dcterms:created xsi:type="dcterms:W3CDTF">2021-11-09T08:21:00Z</dcterms:created>
  <dcterms:modified xsi:type="dcterms:W3CDTF">2026-06-10T14:47:49Z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  <property fmtid="{D5CDD505-2E9C-101B-9397-08002B2CF9AE}" pid="3" name="ICV">
    <vt:lpwstr>E853E6863400429B92DD78350C1D6E0C</vt:lpwstr>
  </property>
</Properties>
</file>